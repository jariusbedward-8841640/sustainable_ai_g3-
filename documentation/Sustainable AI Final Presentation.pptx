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7" r:id="rId2"/>
    <p:sldId id="258" r:id="rId3"/>
    <p:sldId id="259" r:id="rId4"/>
    <p:sldId id="260" r:id="rId5"/>
    <p:sldId id="261" r:id="rId6"/>
    <p:sldId id="275" r:id="rId7"/>
    <p:sldId id="263" r:id="rId8"/>
    <p:sldId id="262" r:id="rId9"/>
    <p:sldId id="264" r:id="rId10"/>
    <p:sldId id="276" r:id="rId11"/>
    <p:sldId id="277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8" r:id="rId22"/>
    <p:sldId id="274" r:id="rId23"/>
  </p:sldIdLst>
  <p:sldSz cx="12192000" cy="6858000"/>
  <p:notesSz cx="6858000" cy="9144000"/>
  <p:embeddedFontLst>
    <p:embeddedFont>
      <p:font typeface="Outfit" panose="020B0604020202020204" charset="0"/>
      <p:regular r:id="rId25"/>
      <p:bold r:id="rId26"/>
    </p:embeddedFont>
    <p:embeddedFont>
      <p:font typeface="Space Grotesk" panose="020B0604020202020204" charset="0"/>
      <p:regular r:id="rId27"/>
      <p:bold r:id="rId28"/>
    </p:embeddedFont>
    <p:embeddedFont>
      <p:font typeface="Space Grotesk SemiBold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87097B-F82B-41A3-DE66-49D6261FBF8A}" v="475" dt="2025-12-12T04:58:12.520"/>
    <p1510:client id="{1804D3BF-0FCE-96D9-FD5E-53D9675FE00C}" v="2" dt="2025-12-12T04:09:47.913"/>
    <p1510:client id="{A7EF7C6A-A7B4-0CC9-0EBD-D098D451787C}" v="8" dt="2025-12-12T05:06:05.241"/>
    <p1510:client id="{FE5C8039-3042-1C8E-6995-0498DA0FB4DB}" v="118" dt="2025-12-12T09:24:16.226"/>
  </p1510:revLst>
</p1510:revInfo>
</file>

<file path=ppt/tableStyles.xml><?xml version="1.0" encoding="utf-8"?>
<a:tblStyleLst xmlns:a="http://schemas.openxmlformats.org/drawingml/2006/main" def="{B5C2F8AD-1E3F-4976-B6D3-D903A6D68349}">
  <a:tblStyle styleId="{B5C2F8AD-1E3F-4976-B6D3-D903A6D6834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fddc9e2c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fddc9e2c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6800C8DF-6C37-C5A4-0D16-CF6D6A4B2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>
            <a:extLst>
              <a:ext uri="{FF2B5EF4-FFF2-40B4-BE49-F238E27FC236}">
                <a16:creationId xmlns:a16="http://schemas.microsoft.com/office/drawing/2014/main" id="{4060CFA1-A696-B2C6-904C-248588225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:notes">
            <a:extLst>
              <a:ext uri="{FF2B5EF4-FFF2-40B4-BE49-F238E27FC236}">
                <a16:creationId xmlns:a16="http://schemas.microsoft.com/office/drawing/2014/main" id="{00864DB4-372F-67CB-5466-656A074DD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9806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FABA1F3E-D04E-0E57-571C-FA4E5478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>
            <a:extLst>
              <a:ext uri="{FF2B5EF4-FFF2-40B4-BE49-F238E27FC236}">
                <a16:creationId xmlns:a16="http://schemas.microsoft.com/office/drawing/2014/main" id="{A1C13DA1-02F1-F2DF-C73F-EE654DFCCA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8:notes">
            <a:extLst>
              <a:ext uri="{FF2B5EF4-FFF2-40B4-BE49-F238E27FC236}">
                <a16:creationId xmlns:a16="http://schemas.microsoft.com/office/drawing/2014/main" id="{F796EA7E-157E-3BD8-8137-9C87EF7B4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9855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A4963789-1778-7265-0615-4A9C757B4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>
            <a:extLst>
              <a:ext uri="{FF2B5EF4-FFF2-40B4-BE49-F238E27FC236}">
                <a16:creationId xmlns:a16="http://schemas.microsoft.com/office/drawing/2014/main" id="{E502696B-59A2-F645-CA71-18EE1EA8E0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8:notes">
            <a:extLst>
              <a:ext uri="{FF2B5EF4-FFF2-40B4-BE49-F238E27FC236}">
                <a16:creationId xmlns:a16="http://schemas.microsoft.com/office/drawing/2014/main" id="{317A1FCC-5DFC-3144-F23F-D02251E93F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64659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A43EEBF3-70C4-D7A6-EB95-307B8480C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:notes">
            <a:extLst>
              <a:ext uri="{FF2B5EF4-FFF2-40B4-BE49-F238E27FC236}">
                <a16:creationId xmlns:a16="http://schemas.microsoft.com/office/drawing/2014/main" id="{49678FCD-E654-EEC1-4DD9-9B752EE3DD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7:notes">
            <a:extLst>
              <a:ext uri="{FF2B5EF4-FFF2-40B4-BE49-F238E27FC236}">
                <a16:creationId xmlns:a16="http://schemas.microsoft.com/office/drawing/2014/main" id="{F04ABFEB-1AED-1128-F449-C4A083F1C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54269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3.png"/><Relationship Id="rId9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3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50.png"/><Relationship Id="rId3" Type="http://schemas.openxmlformats.org/officeDocument/2006/relationships/image" Target="../media/image2.png"/><Relationship Id="rId7" Type="http://schemas.openxmlformats.org/officeDocument/2006/relationships/image" Target="../media/image47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48.png"/><Relationship Id="rId5" Type="http://schemas.openxmlformats.org/officeDocument/2006/relationships/image" Target="../media/image45.png"/><Relationship Id="rId10" Type="http://schemas.openxmlformats.org/officeDocument/2006/relationships/image" Target="../media/image16.png"/><Relationship Id="rId4" Type="http://schemas.openxmlformats.org/officeDocument/2006/relationships/image" Target="../media/image44.png"/><Relationship Id="rId9" Type="http://schemas.openxmlformats.org/officeDocument/2006/relationships/image" Target="../media/image15.png"/><Relationship Id="rId1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4" descr="Make Jatinder look like an equal partner and use something other than brain for Oluwafemi Lawal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" y="0"/>
            <a:ext cx="12191409" cy="680450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DC19CA-870D-34F2-233A-CA82C36C0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7733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571500"/>
            <a:ext cx="5770721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Challenge &amp; Solution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86855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1941165"/>
            <a:ext cx="555069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Problem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4368105"/>
            <a:ext cx="555069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Our Solution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95069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904875" y="238690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Explosive Growth: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1,240+ new data centers in 2025.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04875" y="288220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Hidden Costs: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Users have zero visibility into prompt energy usage.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04875" y="368230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Regulation: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EU AI Act mandates reporting by 2026.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7763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904875" y="481384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Predict: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ML estimates for kWh &amp; Carbon.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04875" y="530914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Optimize: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NLP rewrites prompts for efficiency.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04875" y="580444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Visualize: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Real-time transparency dashboard.</a:t>
            </a:r>
            <a:endParaRPr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242500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292030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72040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5194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34724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84254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F763A9-4367-E58D-2582-CD993BC750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485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2617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320355"/>
            <a:ext cx="5286375" cy="199831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571500" y="571500"/>
            <a:ext cx="6090761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Pipeline Architecture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334125" y="1941165"/>
            <a:ext cx="555069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Flow: Input to Insight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334125" y="242500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We engineered a synthetic data pipeline to bridge the gap between text inputs and physical energy metrics.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602015" y="3701355"/>
            <a:ext cx="475059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Synthetic Data Engine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715125" y="4185195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Overcoming the lack of public energy datasets by generating controlled training scenarios.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667500" y="5427724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Feature Extraction (Linguistic &amp; Hardware)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667500" y="5923024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err="1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MinMax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Normalization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667500" y="6418324"/>
            <a:ext cx="4953000" cy="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80/20 Train-Test Split</a:t>
            </a:r>
            <a:endParaRPr/>
          </a:p>
        </p:txBody>
      </p:sp>
      <p:pic>
        <p:nvPicPr>
          <p:cNvPr id="154" name="Google Shape;15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546582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596112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645642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27B83D2-5E0D-B948-72AC-DA5D5BC217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545" y="2425005"/>
            <a:ext cx="5340329" cy="420811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0EB39-EC0B-AABE-1CB3-5FDE13AE1E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571500" y="571500"/>
            <a:ext cx="470058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Feature Engineering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571500" y="2333625"/>
            <a:ext cx="555069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Input Vectors (X)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571500" y="281746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We combine hardware constraints with linguistic complexity.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571500" y="3808065"/>
            <a:ext cx="2544663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3116163" y="3808065"/>
            <a:ext cx="2741711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571500" y="4336702"/>
            <a:ext cx="25446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3116163" y="4336702"/>
            <a:ext cx="27417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571500" y="4851052"/>
            <a:ext cx="25446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3116163" y="4851052"/>
            <a:ext cx="27417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571500" y="5365402"/>
            <a:ext cx="25446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3116163" y="5365402"/>
            <a:ext cx="27417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571500" y="5879752"/>
            <a:ext cx="25446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3116163" y="5879752"/>
            <a:ext cx="27417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0246B4-D558-BBEA-4476-73B37DE13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953588"/>
              </p:ext>
            </p:extLst>
          </p:nvPr>
        </p:nvGraphicFramePr>
        <p:xfrm>
          <a:off x="452437" y="3676620"/>
          <a:ext cx="1097280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755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755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755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num_layers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Number of model layers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User Input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training_hours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Training time (hours)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User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rPr err="1"/>
                        <a:t>flops_per_hour</a:t>
                      </a:r>
                      <a:endParaRPr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Computational intensity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User Input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token_count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Number of tokens in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NLP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avg_word_length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Average word length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NLP Extraction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energy_kwh (Target)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Energy consumption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Training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AC1330-5037-E1EF-60F6-99940E555F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1165"/>
            <a:ext cx="3492400" cy="2903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941165"/>
            <a:ext cx="3492549" cy="2903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1941165"/>
            <a:ext cx="3492400" cy="290319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571500" y="571500"/>
            <a:ext cx="6190773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Processing &amp; Logging</a:t>
            </a:r>
            <a:endParaRPr/>
          </a:p>
        </p:txBody>
      </p:sp>
      <p:pic>
        <p:nvPicPr>
          <p:cNvPr id="188" name="Google Shape;18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31950" y="223644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794228" y="2998440"/>
            <a:ext cx="304694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Synthetic Dataset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866775" y="3482280"/>
            <a:ext cx="290185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Generated energy_dataset.csv to train our predictive models on diverse hardware profiles.</a:t>
            </a:r>
            <a:endParaRPr/>
          </a:p>
        </p:txBody>
      </p:sp>
      <p:pic>
        <p:nvPicPr>
          <p:cNvPr id="191" name="Google Shape;19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101" y="223644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4572375" y="2998440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Normalization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4644925" y="3482280"/>
            <a:ext cx="2901999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Applied MinMaxScaler to ensure Token Counts (0-1000) don't overpower FLOPs (1e18).</a:t>
            </a:r>
            <a:endParaRPr/>
          </a:p>
        </p:txBody>
      </p:sp>
      <p:pic>
        <p:nvPicPr>
          <p:cNvPr id="194" name="Google Shape;194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88400" y="223644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/>
        </p:nvSpPr>
        <p:spPr>
          <a:xfrm>
            <a:off x="8350679" y="2998440"/>
            <a:ext cx="304694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Privacy Logging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8423225" y="3482280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Prompts are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SHA-256 hashed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. We log the energy cost, not the user's secrets.</a:t>
            </a:r>
            <a:endParaRPr/>
          </a:p>
        </p:txBody>
      </p:sp>
      <p:pic>
        <p:nvPicPr>
          <p:cNvPr id="197" name="Google Shape;197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217687" y="240789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52976" y="240789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731275" y="240789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C9D096-5BCC-ED21-6F82-8E8690F15C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>
          <a:extLst>
            <a:ext uri="{FF2B5EF4-FFF2-40B4-BE49-F238E27FC236}">
              <a16:creationId xmlns:a16="http://schemas.microsoft.com/office/drawing/2014/main" id="{6F45B025-4B72-DC89-A4AC-1C6CD260D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 descr="image.png">
            <a:extLst>
              <a:ext uri="{FF2B5EF4-FFF2-40B4-BE49-F238E27FC236}">
                <a16:creationId xmlns:a16="http://schemas.microsoft.com/office/drawing/2014/main" id="{7CCC7A32-881F-CF18-3540-5AFB0DBE0E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485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>
            <a:extLst>
              <a:ext uri="{FF2B5EF4-FFF2-40B4-BE49-F238E27FC236}">
                <a16:creationId xmlns:a16="http://schemas.microsoft.com/office/drawing/2014/main" id="{1F150E36-73F3-54E5-D93F-8732AD571C87}"/>
              </a:ext>
            </a:extLst>
          </p:cNvPr>
          <p:cNvSpPr txBox="1"/>
          <p:nvPr/>
        </p:nvSpPr>
        <p:spPr>
          <a:xfrm>
            <a:off x="571500" y="571500"/>
            <a:ext cx="609076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09972"/>
              </a:lnSpc>
            </a:pPr>
            <a:r>
              <a:rPr lang="en-US" sz="3600" b="1">
                <a:solidFill>
                  <a:srgbClr val="0F172A"/>
                </a:solidFill>
                <a:latin typeface="Space Grotesk"/>
                <a:cs typeface="Space Grotesk"/>
              </a:rPr>
              <a:t>GUI and Integration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08B01D-D928-B6CB-52C1-BCC3E67D14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853" b="212"/>
          <a:stretch>
            <a:fillRect/>
          </a:stretch>
        </p:blipFill>
        <p:spPr>
          <a:xfrm>
            <a:off x="1297460" y="1513615"/>
            <a:ext cx="8873614" cy="514884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064A5-072E-2AE9-7475-65FD7A8160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07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70633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15655"/>
            <a:ext cx="5286375" cy="1984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571500" y="571500"/>
            <a:ext cx="5870733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Energy Prediction Engine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571500" y="2426940"/>
            <a:ext cx="555069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Real-Time Inference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571500" y="2910780"/>
            <a:ext cx="528637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The EnergyEstimator class loads pre-trained .pkl models to deliver instant feedback.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952500" y="4196655"/>
            <a:ext cx="475059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Carbon Formula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952500" y="5032920"/>
            <a:ext cx="45243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Based on global grid average intensity.</a:t>
            </a:r>
            <a:endParaRPr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9112BCD-E331-1ACE-AE25-96E4558579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2608398"/>
            <a:ext cx="5507824" cy="317651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33ABE-D739-AEDD-5D04-A8C678634A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70633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571500" y="571500"/>
            <a:ext cx="596074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Machine Learning Models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6334125" y="2471737"/>
            <a:ext cx="555069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Dual Model Approach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334125" y="295557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We implemented two regressors to balance accuracy and interpretability.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6667500" y="385092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Random Forest (Primary):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100 estimators. Captures non-linear relationships between token complexity and energy.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667500" y="495582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Linear Regression (Baseline):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Provides specific feature weights for explainability.</a:t>
            </a:r>
            <a:endParaRPr/>
          </a:p>
        </p:txBody>
      </p:sp>
      <p:pic>
        <p:nvPicPr>
          <p:cNvPr id="214" name="Google Shape;21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88902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99392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F798EE-4C69-88CD-FCFD-CD3A4D0C6E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69" y="2471737"/>
            <a:ext cx="5336606" cy="356190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91CEB-117C-9841-D193-0F8979F3B4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571500" y="571500"/>
            <a:ext cx="4420552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Anomaly Detection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6334125" y="2458342"/>
            <a:ext cx="555069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Unsupervised Guardrails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6334125" y="2942183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We use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Isolation Forest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to identify prompts that deviate statistically from normal resource usage.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334125" y="3837533"/>
            <a:ext cx="555069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Use Cases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667500" y="4283273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Detecting "Infinite Loop" prompts.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667500" y="4778573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Flagging inefficient context stuffing.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667500" y="5273873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Alerting on token spikes (Contamination: 5%).</a:t>
            </a:r>
            <a:endParaRPr/>
          </a:p>
        </p:txBody>
      </p:sp>
      <p:pic>
        <p:nvPicPr>
          <p:cNvPr id="245" name="Google Shape;24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3213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8166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53119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Anomaly Detection Machine Learning Algorithms Explained">
            <a:extLst>
              <a:ext uri="{FF2B5EF4-FFF2-40B4-BE49-F238E27FC236}">
                <a16:creationId xmlns:a16="http://schemas.microsoft.com/office/drawing/2014/main" id="{8EF002F8-1140-AFAB-EDD9-69CFC86D2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52" y="1960475"/>
            <a:ext cx="5631173" cy="3754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4B30A-C247-A9FC-6113-EEF9D4F461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>
          <a:extLst>
            <a:ext uri="{FF2B5EF4-FFF2-40B4-BE49-F238E27FC236}">
              <a16:creationId xmlns:a16="http://schemas.microsoft.com/office/drawing/2014/main" id="{6D1EE95F-89C0-FA92-B05E-417A10C51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1" descr="image.png">
            <a:extLst>
              <a:ext uri="{FF2B5EF4-FFF2-40B4-BE49-F238E27FC236}">
                <a16:creationId xmlns:a16="http://schemas.microsoft.com/office/drawing/2014/main" id="{8C7BEA38-FD41-7F10-8C1E-680233BC2F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>
            <a:extLst>
              <a:ext uri="{FF2B5EF4-FFF2-40B4-BE49-F238E27FC236}">
                <a16:creationId xmlns:a16="http://schemas.microsoft.com/office/drawing/2014/main" id="{C2A13BB5-E1D3-B174-2938-A7134B1B4DAD}"/>
              </a:ext>
            </a:extLst>
          </p:cNvPr>
          <p:cNvSpPr txBox="1"/>
          <p:nvPr/>
        </p:nvSpPr>
        <p:spPr>
          <a:xfrm>
            <a:off x="571500" y="571500"/>
            <a:ext cx="4420552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09972"/>
              </a:lnSpc>
            </a:pPr>
            <a:r>
              <a:rPr lang="en-US" sz="3600" b="1">
                <a:solidFill>
                  <a:srgbClr val="0F172A"/>
                </a:solidFill>
                <a:latin typeface="Space Grotesk"/>
                <a:cs typeface="Space Grotesk"/>
              </a:rPr>
              <a:t>Initial Analysis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7C84A5-0050-1103-0307-8967DA86A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89" y="1709554"/>
            <a:ext cx="10204622" cy="449951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43332-4CFA-25C0-4219-2B423DCF19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673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>
          <a:extLst>
            <a:ext uri="{FF2B5EF4-FFF2-40B4-BE49-F238E27FC236}">
              <a16:creationId xmlns:a16="http://schemas.microsoft.com/office/drawing/2014/main" id="{6EED34BA-363B-0F03-C85C-4B3BB30A0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1" descr="image.png">
            <a:extLst>
              <a:ext uri="{FF2B5EF4-FFF2-40B4-BE49-F238E27FC236}">
                <a16:creationId xmlns:a16="http://schemas.microsoft.com/office/drawing/2014/main" id="{6C35F79C-EEB0-6635-8FFD-48ADE01D2B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>
            <a:extLst>
              <a:ext uri="{FF2B5EF4-FFF2-40B4-BE49-F238E27FC236}">
                <a16:creationId xmlns:a16="http://schemas.microsoft.com/office/drawing/2014/main" id="{B7CFE9BE-8735-E96B-404D-92976A9FB162}"/>
              </a:ext>
            </a:extLst>
          </p:cNvPr>
          <p:cNvSpPr txBox="1"/>
          <p:nvPr/>
        </p:nvSpPr>
        <p:spPr>
          <a:xfrm>
            <a:off x="571500" y="571500"/>
            <a:ext cx="7705389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09972"/>
              </a:lnSpc>
            </a:pPr>
            <a:r>
              <a:rPr lang="en-US" sz="3600">
                <a:solidFill>
                  <a:srgbClr val="0F172A"/>
                </a:solidFill>
              </a:rPr>
              <a:t>Model performance on the test split</a:t>
            </a:r>
            <a:endParaRPr lang="en-US"/>
          </a:p>
        </p:txBody>
      </p:sp>
      <p:pic>
        <p:nvPicPr>
          <p:cNvPr id="3" name="Picture 2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1ECA6D85-F8B3-E211-4694-585890849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61" y="1585783"/>
            <a:ext cx="8304399" cy="4983893"/>
          </a:xfrm>
          <a:prstGeom prst="rect">
            <a:avLst/>
          </a:prstGeom>
        </p:spPr>
      </p:pic>
      <p:pic>
        <p:nvPicPr>
          <p:cNvPr id="5" name="Google Shape;245;p21" descr="image.png">
            <a:extLst>
              <a:ext uri="{FF2B5EF4-FFF2-40B4-BE49-F238E27FC236}">
                <a16:creationId xmlns:a16="http://schemas.microsoft.com/office/drawing/2014/main" id="{6F083E3A-122C-956E-B703-BECF6DF6880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48260" y="24163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5;p21" descr="image.png">
            <a:extLst>
              <a:ext uri="{FF2B5EF4-FFF2-40B4-BE49-F238E27FC236}">
                <a16:creationId xmlns:a16="http://schemas.microsoft.com/office/drawing/2014/main" id="{229D9212-1DA0-BBC6-4E86-525537E612C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48260" y="313718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45;p21" descr="image.png">
            <a:extLst>
              <a:ext uri="{FF2B5EF4-FFF2-40B4-BE49-F238E27FC236}">
                <a16:creationId xmlns:a16="http://schemas.microsoft.com/office/drawing/2014/main" id="{C3BD3AF6-D35D-5189-1887-36F36E6A8C4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48260" y="3878589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41;p21">
            <a:extLst>
              <a:ext uri="{FF2B5EF4-FFF2-40B4-BE49-F238E27FC236}">
                <a16:creationId xmlns:a16="http://schemas.microsoft.com/office/drawing/2014/main" id="{DF77EBB1-6C2A-9779-2838-E3C3CA66B1A1}"/>
              </a:ext>
            </a:extLst>
          </p:cNvPr>
          <p:cNvSpPr txBox="1"/>
          <p:nvPr/>
        </p:nvSpPr>
        <p:spPr>
          <a:xfrm>
            <a:off x="9653717" y="2409164"/>
            <a:ext cx="22345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334155"/>
                </a:solidFill>
                <a:latin typeface="Outfit"/>
              </a:rPr>
              <a:t>Actual line – Test split</a:t>
            </a:r>
          </a:p>
        </p:txBody>
      </p:sp>
      <p:sp>
        <p:nvSpPr>
          <p:cNvPr id="12" name="Google Shape;241;p21">
            <a:extLst>
              <a:ext uri="{FF2B5EF4-FFF2-40B4-BE49-F238E27FC236}">
                <a16:creationId xmlns:a16="http://schemas.microsoft.com/office/drawing/2014/main" id="{7347C57F-7987-1836-E0E6-E1B2626DE42F}"/>
              </a:ext>
            </a:extLst>
          </p:cNvPr>
          <p:cNvSpPr txBox="1"/>
          <p:nvPr/>
        </p:nvSpPr>
        <p:spPr>
          <a:xfrm>
            <a:off x="9653717" y="3119677"/>
            <a:ext cx="24198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334155"/>
                </a:solidFill>
                <a:latin typeface="Outfit"/>
              </a:rPr>
              <a:t>Predicted line – Test split</a:t>
            </a:r>
          </a:p>
        </p:txBody>
      </p:sp>
      <p:sp>
        <p:nvSpPr>
          <p:cNvPr id="13" name="Google Shape;241;p21">
            <a:extLst>
              <a:ext uri="{FF2B5EF4-FFF2-40B4-BE49-F238E27FC236}">
                <a16:creationId xmlns:a16="http://schemas.microsoft.com/office/drawing/2014/main" id="{54299407-3D4C-8DC2-CF85-2E06E21F7B35}"/>
              </a:ext>
            </a:extLst>
          </p:cNvPr>
          <p:cNvSpPr txBox="1"/>
          <p:nvPr/>
        </p:nvSpPr>
        <p:spPr>
          <a:xfrm>
            <a:off x="9653717" y="3789001"/>
            <a:ext cx="24198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500">
                <a:solidFill>
                  <a:srgbClr val="334155"/>
                </a:solidFill>
                <a:latin typeface="Outfit"/>
              </a:rPr>
              <a:t>Predicted data point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1CE24-65E2-7AA7-2D10-8EDA66B3F1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0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141315"/>
            <a:ext cx="11049000" cy="256802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571500" y="571500"/>
            <a:ext cx="45305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Clear Results</a:t>
            </a:r>
            <a:endParaRPr/>
          </a:p>
        </p:txBody>
      </p:sp>
      <p:pic>
        <p:nvPicPr>
          <p:cNvPr id="7" name="Picture 6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03B64532-E6C8-0CDC-9063-64A631810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292" y="3302688"/>
            <a:ext cx="11207208" cy="28192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89F29B-BFBE-93E9-DAE9-A77E1A26341D}"/>
              </a:ext>
            </a:extLst>
          </p:cNvPr>
          <p:cNvSpPr txBox="1"/>
          <p:nvPr/>
        </p:nvSpPr>
        <p:spPr>
          <a:xfrm>
            <a:off x="3716144" y="1384488"/>
            <a:ext cx="60941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1A1A2E"/>
                </a:solidFill>
              </a:defRPr>
            </a:pPr>
            <a:r>
              <a:rPr lang="en-US"/>
              <a:t>• Auto-saves to model/</a:t>
            </a:r>
            <a:r>
              <a:rPr lang="en-US" err="1"/>
              <a:t>energy_predictor</a:t>
            </a:r>
            <a:r>
              <a:rPr lang="en-US"/>
              <a:t>/</a:t>
            </a:r>
          </a:p>
          <a:p>
            <a:pPr>
              <a:spcBef>
                <a:spcPts val="600"/>
              </a:spcBef>
              <a:defRPr sz="1600">
                <a:solidFill>
                  <a:srgbClr val="1A1A2E"/>
                </a:solidFill>
              </a:defRPr>
            </a:pPr>
            <a:r>
              <a:rPr lang="en-US"/>
              <a:t>• Separate files per model type</a:t>
            </a:r>
          </a:p>
          <a:p>
            <a:pPr>
              <a:spcBef>
                <a:spcPts val="600"/>
              </a:spcBef>
              <a:defRPr sz="1600">
                <a:solidFill>
                  <a:srgbClr val="1A1A2E"/>
                </a:solidFill>
              </a:defRPr>
            </a:pPr>
            <a:r>
              <a:rPr lang="en-US"/>
              <a:t>• Includes scalers and metadata</a:t>
            </a:r>
          </a:p>
          <a:p>
            <a:pPr>
              <a:spcBef>
                <a:spcPts val="600"/>
              </a:spcBef>
              <a:defRPr sz="1600">
                <a:solidFill>
                  <a:srgbClr val="1A1A2E"/>
                </a:solidFill>
              </a:defRPr>
            </a:pPr>
            <a:r>
              <a:rPr lang="en-US"/>
              <a:t>• Loads existing models on startup</a:t>
            </a:r>
          </a:p>
          <a:p>
            <a:pPr>
              <a:spcBef>
                <a:spcPts val="600"/>
              </a:spcBef>
              <a:defRPr sz="1600">
                <a:solidFill>
                  <a:srgbClr val="1A1A2E"/>
                </a:solidFill>
              </a:defRPr>
            </a:pPr>
            <a:r>
              <a:rPr lang="en-US"/>
              <a:t>• Retrains only when necessary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10F377-BB43-449A-8DD8-D0173ABC4B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12665"/>
            <a:ext cx="3492400" cy="299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2512665"/>
            <a:ext cx="3492400" cy="299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75023" y="2362743"/>
            <a:ext cx="3841805" cy="329828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571500" y="571500"/>
            <a:ext cx="494061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NLP System Overview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866775" y="2807940"/>
            <a:ext cx="290185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794228" y="3960465"/>
            <a:ext cx="304694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Analyzer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866775" y="4444305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Calculates token density and linguistic complexity.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4510303" y="2698023"/>
            <a:ext cx="3171244" cy="1058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4431022" y="3965800"/>
            <a:ext cx="3329806" cy="32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T5 Optimizer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4510303" y="4498024"/>
            <a:ext cx="3171244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Hugging Face T5-small model fine-tuned on 195+ pairs.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8423225" y="2807940"/>
            <a:ext cx="290185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8350679" y="3960465"/>
            <a:ext cx="304694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Validator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8423225" y="4444305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Sentence-Transformers ensure semantic meaning is kept.</a:t>
            </a:r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945A3F-DC57-E4B6-ACBF-0F2B2B05CE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70633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 txBox="1"/>
          <p:nvPr/>
        </p:nvSpPr>
        <p:spPr>
          <a:xfrm>
            <a:off x="571500" y="571500"/>
            <a:ext cx="4730591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T5 Prompt Optimizer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571500" y="2747962"/>
            <a:ext cx="555069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Intelligent Rewriting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571500" y="323180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We fine-tuned 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T5-small (60M param)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model to condense prompts without losing intent.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904875" y="399380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Removes "politeness padding" (e.g., "Could you please").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904875" y="448910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Simplifies verbose vocabulary.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904875" y="498440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Optimized for CPU inference.</a:t>
            </a:r>
            <a:endParaRPr/>
          </a:p>
        </p:txBody>
      </p:sp>
      <p:pic>
        <p:nvPicPr>
          <p:cNvPr id="295" name="Google Shape;29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3190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2720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02250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7898AE7F-5712-3C9B-3602-FD305E35BB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3653" y="4049857"/>
            <a:ext cx="5187315" cy="1744977"/>
          </a:xfrm>
          <a:prstGeom prst="rect">
            <a:avLst/>
          </a:prstGeom>
        </p:spPr>
      </p:pic>
      <p:pic>
        <p:nvPicPr>
          <p:cNvPr id="7" name="Picture 6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41EC712E-B2B1-E5A1-08EF-C8777E1C20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1977" y="1890496"/>
            <a:ext cx="5410669" cy="214140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72C5B-AA6D-8811-4B63-149EDC725E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008215"/>
            <a:ext cx="110490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571500" y="571500"/>
            <a:ext cx="532066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Hybrid Fallback Engine</a:t>
            </a:r>
            <a:endParaRPr/>
          </a:p>
        </p:txBody>
      </p:sp>
      <p:sp>
        <p:nvSpPr>
          <p:cNvPr id="305" name="Google Shape;305;p25"/>
          <p:cNvSpPr/>
          <p:nvPr/>
        </p:nvSpPr>
        <p:spPr>
          <a:xfrm>
            <a:off x="571500" y="3236565"/>
            <a:ext cx="2636341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3207841" y="3236565"/>
            <a:ext cx="5111799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8319641" y="3236565"/>
            <a:ext cx="3300858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 txBox="1"/>
          <p:nvPr/>
        </p:nvSpPr>
        <p:spPr>
          <a:xfrm>
            <a:off x="762000" y="519871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Graceful degradation guarantees the pipeline never breaks.</a:t>
            </a: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571500" y="3736627"/>
            <a:ext cx="26363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3207841" y="3736627"/>
            <a:ext cx="51117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8319641" y="3736627"/>
            <a:ext cx="3300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571500" y="4222402"/>
            <a:ext cx="26363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3207841" y="4222402"/>
            <a:ext cx="51117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8319641" y="4222402"/>
            <a:ext cx="3300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571500" y="4708177"/>
            <a:ext cx="26363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3207841" y="4708177"/>
            <a:ext cx="51117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8319641" y="4708177"/>
            <a:ext cx="3300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 txBox="1"/>
          <p:nvPr/>
        </p:nvSpPr>
        <p:spPr>
          <a:xfrm>
            <a:off x="571500" y="213166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Ensures 100% system availability. If the ML model is offline, rules take over.</a:t>
            </a:r>
            <a:endParaRPr/>
          </a:p>
        </p:txBody>
      </p:sp>
      <p:graphicFrame>
        <p:nvGraphicFramePr>
          <p:cNvPr id="319" name="Google Shape;319;p25"/>
          <p:cNvGraphicFramePr/>
          <p:nvPr/>
        </p:nvGraphicFramePr>
        <p:xfrm>
          <a:off x="571500" y="2769840"/>
          <a:ext cx="11049000" cy="1952600"/>
        </p:xfrm>
        <a:graphic>
          <a:graphicData uri="http://schemas.openxmlformats.org/drawingml/2006/table">
            <a:tbl>
              <a:tblPr firstRow="1" bandRow="1">
                <a:noFill/>
                <a:tableStyleId>{B5C2F8AD-1E3F-4976-B6D3-D903A6D68349}</a:tableStyleId>
              </a:tblPr>
              <a:tblGrid>
                <a:gridCol w="263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47857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Pattern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47857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Verbose Input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47857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Optimized Output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Simplification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"In order to facilitate"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"To help"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Vocabulary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"Utilize"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"Use"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Removal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"I was wondering if you could..."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(Removed)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CB9C24-22FA-0872-8D31-1DC0DC4904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70633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841527"/>
            <a:ext cx="130492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29550" y="4841527"/>
            <a:ext cx="10572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6"/>
          <p:cNvSpPr txBox="1"/>
          <p:nvPr/>
        </p:nvSpPr>
        <p:spPr>
          <a:xfrm>
            <a:off x="571500" y="571500"/>
            <a:ext cx="463057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Semantic Validation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6334125" y="2909887"/>
            <a:ext cx="555069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Quality Gate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6334125" y="339372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We don't just shorten text; we verify meaning.</a:t>
            </a:r>
            <a:endParaRPr/>
          </a:p>
        </p:txBody>
      </p:sp>
      <p:sp>
        <p:nvSpPr>
          <p:cNvPr id="333" name="Google Shape;333;p26"/>
          <p:cNvSpPr txBox="1"/>
          <p:nvPr/>
        </p:nvSpPr>
        <p:spPr>
          <a:xfrm>
            <a:off x="6667500" y="385092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Method: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Cosine Similarity of Vector Embeddings.</a:t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6667500" y="434622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Threshold: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Changes rejected if score &lt; 0.75.</a:t>
            </a:r>
            <a:endParaRPr/>
          </a:p>
        </p:txBody>
      </p:sp>
      <p:pic>
        <p:nvPicPr>
          <p:cNvPr id="336" name="Google Shape;336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388902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438432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31EF8F6E-C464-2B25-2DF4-17D92AAA80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970633"/>
            <a:ext cx="4877223" cy="1242168"/>
          </a:xfrm>
          <a:prstGeom prst="rect">
            <a:avLst/>
          </a:prstGeom>
        </p:spPr>
      </p:pic>
      <p:pic>
        <p:nvPicPr>
          <p:cNvPr id="5" name="Picture 4" descr="A diagram of different colored bars and a square&#10;&#10;AI-generated content may be incorrect.">
            <a:extLst>
              <a:ext uri="{FF2B5EF4-FFF2-40B4-BE49-F238E27FC236}">
                <a16:creationId xmlns:a16="http://schemas.microsoft.com/office/drawing/2014/main" id="{020EAFBA-E2B8-D49D-008C-C5C7925541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661" y="3293800"/>
            <a:ext cx="4414900" cy="314137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007FE-F476-CF1F-4F55-FABADAA6BF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47987"/>
            <a:ext cx="5286375" cy="2331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70633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55702"/>
            <a:ext cx="5286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7"/>
          <p:cNvSpPr txBox="1"/>
          <p:nvPr/>
        </p:nvSpPr>
        <p:spPr>
          <a:xfrm>
            <a:off x="571500" y="571500"/>
            <a:ext cx="4810601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Optimization Results</a:t>
            </a:r>
            <a:endParaRPr/>
          </a:p>
        </p:txBody>
      </p:sp>
      <p:sp>
        <p:nvSpPr>
          <p:cNvPr id="347" name="Google Shape;347;p27"/>
          <p:cNvSpPr txBox="1"/>
          <p:nvPr/>
        </p:nvSpPr>
        <p:spPr>
          <a:xfrm>
            <a:off x="571500" y="2947987"/>
            <a:ext cx="555069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Impact Analysis</a:t>
            </a:r>
            <a:endParaRPr/>
          </a:p>
        </p:txBody>
      </p:sp>
      <p:sp>
        <p:nvSpPr>
          <p:cNvPr id="348" name="Google Shape;348;p27"/>
          <p:cNvSpPr txBox="1"/>
          <p:nvPr/>
        </p:nvSpPr>
        <p:spPr>
          <a:xfrm>
            <a:off x="571500" y="452720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Energy Impact: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Linear correlation. Fewer tokens = fewer FLOPs = less energy.</a:t>
            </a:r>
            <a:endParaRPr/>
          </a:p>
        </p:txBody>
      </p:sp>
      <p:pic>
        <p:nvPicPr>
          <p:cNvPr id="7" name="Picture 6" descr="A collage of graphs&#10;&#10;AI-generated content may be incorrect.">
            <a:extLst>
              <a:ext uri="{FF2B5EF4-FFF2-40B4-BE49-F238E27FC236}">
                <a16:creationId xmlns:a16="http://schemas.microsoft.com/office/drawing/2014/main" id="{2FCF5596-3A33-4556-BFF0-6F30A82B7F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1559273"/>
            <a:ext cx="5844784" cy="27952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AFC6DC-415F-102E-1FDB-F85ADB6FCE64}"/>
              </a:ext>
            </a:extLst>
          </p:cNvPr>
          <p:cNvSpPr txBox="1"/>
          <p:nvPr/>
        </p:nvSpPr>
        <p:spPr>
          <a:xfrm>
            <a:off x="6096000" y="4363556"/>
            <a:ext cx="596690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Typical token reduction: 20–40% fewer tokens after optimization.</a:t>
            </a:r>
          </a:p>
          <a:p>
            <a:r>
              <a:rPr lang="en-US"/>
              <a:t>Semantic similarity usually remains above 85%, keeping user meaning intact.</a:t>
            </a:r>
          </a:p>
          <a:p>
            <a:r>
              <a:rPr lang="en-US"/>
              <a:t>Energy savings are estimated from token reduction and model parameters.</a:t>
            </a:r>
          </a:p>
          <a:p>
            <a:r>
              <a:rPr lang="en-US"/>
              <a:t>Quality score combines:</a:t>
            </a:r>
          </a:p>
          <a:p>
            <a:r>
              <a:rPr lang="en-US"/>
              <a:t>• Token reduction (up to 30 points).</a:t>
            </a:r>
          </a:p>
          <a:p>
            <a:r>
              <a:rPr lang="en-US"/>
              <a:t>• Semantic similarity (up to 40 points).</a:t>
            </a:r>
          </a:p>
          <a:p>
            <a:r>
              <a:rPr lang="en-US"/>
              <a:t>• Intent and action preservation (up to 30 points combined).</a:t>
            </a:r>
          </a:p>
          <a:p>
            <a:r>
              <a:rPr lang="en-US"/>
              <a:t>Rule-based fallback guarantees graceful degradation if ML components fail.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1EA2AE-0F30-F769-7A43-9168D56C40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8"/>
          <p:cNvSpPr txBox="1"/>
          <p:nvPr/>
        </p:nvSpPr>
        <p:spPr>
          <a:xfrm>
            <a:off x="571500" y="571500"/>
            <a:ext cx="3810476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GUI Architecture</a:t>
            </a:r>
            <a:endParaRPr/>
          </a:p>
        </p:txBody>
      </p:sp>
      <p:sp>
        <p:nvSpPr>
          <p:cNvPr id="359" name="Google Shape;359;p28"/>
          <p:cNvSpPr txBox="1"/>
          <p:nvPr/>
        </p:nvSpPr>
        <p:spPr>
          <a:xfrm>
            <a:off x="6334125" y="2895600"/>
            <a:ext cx="555069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Streamlit Implementation</a:t>
            </a:r>
            <a:endParaRPr/>
          </a:p>
        </p:txBody>
      </p:sp>
      <p:sp>
        <p:nvSpPr>
          <p:cNvPr id="360" name="Google Shape;360;p28"/>
          <p:cNvSpPr txBox="1"/>
          <p:nvPr/>
        </p:nvSpPr>
        <p:spPr>
          <a:xfrm>
            <a:off x="6334125" y="337944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A professional dashboard built in under 500 lines of Python.</a:t>
            </a:r>
            <a:endParaRPr/>
          </a:p>
        </p:txBody>
      </p:sp>
      <p:sp>
        <p:nvSpPr>
          <p:cNvPr id="361" name="Google Shape;361;p28"/>
          <p:cNvSpPr txBox="1"/>
          <p:nvPr/>
        </p:nvSpPr>
        <p:spPr>
          <a:xfrm>
            <a:off x="6667500" y="383664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Sidebar: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Hardware Config (Layers, FLOPs).</a:t>
            </a:r>
            <a:endParaRPr/>
          </a:p>
        </p:txBody>
      </p:sp>
      <p:sp>
        <p:nvSpPr>
          <p:cNvPr id="362" name="Google Shape;362;p28"/>
          <p:cNvSpPr txBox="1"/>
          <p:nvPr/>
        </p:nvSpPr>
        <p:spPr>
          <a:xfrm>
            <a:off x="6667500" y="433194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Main Stage: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Real-time Input &amp; Analysis.</a:t>
            </a:r>
            <a:endParaRPr/>
          </a:p>
        </p:txBody>
      </p:sp>
      <p:sp>
        <p:nvSpPr>
          <p:cNvPr id="363" name="Google Shape;363;p28"/>
          <p:cNvSpPr txBox="1"/>
          <p:nvPr/>
        </p:nvSpPr>
        <p:spPr>
          <a:xfrm>
            <a:off x="6667500" y="4827240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Layouts: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Modular components in layout.py.</a:t>
            </a:r>
            <a:endParaRPr/>
          </a:p>
        </p:txBody>
      </p:sp>
      <p:pic>
        <p:nvPicPr>
          <p:cNvPr id="365" name="Google Shape;365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87474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37004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86534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46695FA2-439B-94AB-204D-4BC2BAFE47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2046" y="1645890"/>
            <a:ext cx="2176658" cy="509874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DA161-7A2B-A5B5-21DE-D2A3C1C972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1165"/>
            <a:ext cx="3492400" cy="2588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941165"/>
            <a:ext cx="3492549" cy="2588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1941165"/>
            <a:ext cx="3492400" cy="2588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815780"/>
            <a:ext cx="11049000" cy="1470719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9"/>
          <p:cNvSpPr txBox="1"/>
          <p:nvPr/>
        </p:nvSpPr>
        <p:spPr>
          <a:xfrm>
            <a:off x="571500" y="571500"/>
            <a:ext cx="5460682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Interface Features</a:t>
            </a:r>
            <a:endParaRPr/>
          </a:p>
        </p:txBody>
      </p:sp>
      <p:pic>
        <p:nvPicPr>
          <p:cNvPr id="379" name="Google Shape;379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31950" y="223644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9"/>
          <p:cNvSpPr txBox="1"/>
          <p:nvPr/>
        </p:nvSpPr>
        <p:spPr>
          <a:xfrm>
            <a:off x="794228" y="2998440"/>
            <a:ext cx="304694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Config</a:t>
            </a:r>
            <a:endParaRPr/>
          </a:p>
        </p:txBody>
      </p:sp>
      <p:sp>
        <p:nvSpPr>
          <p:cNvPr id="381" name="Google Shape;381;p29"/>
          <p:cNvSpPr txBox="1"/>
          <p:nvPr/>
        </p:nvSpPr>
        <p:spPr>
          <a:xfrm>
            <a:off x="866775" y="3482280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Hardware parameters adjustable via Sidebar.</a:t>
            </a:r>
            <a:endParaRPr/>
          </a:p>
        </p:txBody>
      </p:sp>
      <p:pic>
        <p:nvPicPr>
          <p:cNvPr id="382" name="Google Shape;382;p2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101" y="223644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9"/>
          <p:cNvSpPr txBox="1"/>
          <p:nvPr/>
        </p:nvSpPr>
        <p:spPr>
          <a:xfrm>
            <a:off x="4572375" y="2998440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Analysis</a:t>
            </a:r>
            <a:endParaRPr/>
          </a:p>
        </p:txBody>
      </p:sp>
      <p:sp>
        <p:nvSpPr>
          <p:cNvPr id="384" name="Google Shape;384;p29"/>
          <p:cNvSpPr txBox="1"/>
          <p:nvPr/>
        </p:nvSpPr>
        <p:spPr>
          <a:xfrm>
            <a:off x="4644925" y="3482280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One-click trigger for full ML/NLP pipeline.</a:t>
            </a:r>
            <a:endParaRPr/>
          </a:p>
        </p:txBody>
      </p:sp>
      <p:pic>
        <p:nvPicPr>
          <p:cNvPr id="385" name="Google Shape;385;p2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588400" y="223644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9"/>
          <p:cNvSpPr txBox="1"/>
          <p:nvPr/>
        </p:nvSpPr>
        <p:spPr>
          <a:xfrm>
            <a:off x="8350679" y="2998440"/>
            <a:ext cx="304694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Comparison</a:t>
            </a:r>
            <a:endParaRPr/>
          </a:p>
        </p:txBody>
      </p:sp>
      <p:sp>
        <p:nvSpPr>
          <p:cNvPr id="387" name="Google Shape;387;p29"/>
          <p:cNvSpPr txBox="1"/>
          <p:nvPr/>
        </p:nvSpPr>
        <p:spPr>
          <a:xfrm>
            <a:off x="8423225" y="3482280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Side-by-side view of text changes.</a:t>
            </a:r>
            <a:endParaRPr/>
          </a:p>
        </p:txBody>
      </p:sp>
      <p:pic>
        <p:nvPicPr>
          <p:cNvPr id="388" name="Google Shape;388;p2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03400" y="240789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81551" y="240789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759850" y="240789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1E93C7-1904-D85C-C832-64DDC17BCB6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4825305"/>
            <a:ext cx="10465845" cy="16101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9BAF7-084A-F003-F0AC-E06B10848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9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70633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0"/>
          <p:cNvSpPr txBox="1"/>
          <p:nvPr/>
        </p:nvSpPr>
        <p:spPr>
          <a:xfrm>
            <a:off x="571500" y="571500"/>
            <a:ext cx="5850731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Dashboard Visualizations</a:t>
            </a:r>
            <a:endParaRPr/>
          </a:p>
        </p:txBody>
      </p:sp>
      <p:sp>
        <p:nvSpPr>
          <p:cNvPr id="399" name="Google Shape;399;p30"/>
          <p:cNvSpPr txBox="1"/>
          <p:nvPr/>
        </p:nvSpPr>
        <p:spPr>
          <a:xfrm>
            <a:off x="571500" y="2747962"/>
            <a:ext cx="555069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47857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Actionable Insights</a:t>
            </a:r>
            <a:endParaRPr/>
          </a:p>
        </p:txBody>
      </p:sp>
      <p:sp>
        <p:nvSpPr>
          <p:cNvPr id="400" name="Google Shape;400;p30"/>
          <p:cNvSpPr txBox="1"/>
          <p:nvPr/>
        </p:nvSpPr>
        <p:spPr>
          <a:xfrm>
            <a:off x="571500" y="323180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Turning abstract hardware metrics into concrete sustainability goals.</a:t>
            </a:r>
            <a:endParaRPr/>
          </a:p>
        </p:txBody>
      </p:sp>
      <p:sp>
        <p:nvSpPr>
          <p:cNvPr id="402" name="Google Shape;402;p30"/>
          <p:cNvSpPr txBox="1"/>
          <p:nvPr/>
        </p:nvSpPr>
        <p:spPr>
          <a:xfrm>
            <a:off x="904875" y="399380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Energy Distribution Pie Charts</a:t>
            </a:r>
            <a:endParaRPr/>
          </a:p>
        </p:txBody>
      </p:sp>
      <p:sp>
        <p:nvSpPr>
          <p:cNvPr id="403" name="Google Shape;403;p30"/>
          <p:cNvSpPr txBox="1"/>
          <p:nvPr/>
        </p:nvSpPr>
        <p:spPr>
          <a:xfrm>
            <a:off x="904875" y="448910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Token Reduction Bar Graphs</a:t>
            </a:r>
            <a:endParaRPr/>
          </a:p>
        </p:txBody>
      </p:sp>
      <p:sp>
        <p:nvSpPr>
          <p:cNvPr id="404" name="Google Shape;404;p30"/>
          <p:cNvSpPr txBox="1"/>
          <p:nvPr/>
        </p:nvSpPr>
        <p:spPr>
          <a:xfrm>
            <a:off x="904875" y="498440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Carbon Footprint Counters</a:t>
            </a:r>
            <a:endParaRPr/>
          </a:p>
        </p:txBody>
      </p:sp>
      <p:pic>
        <p:nvPicPr>
          <p:cNvPr id="406" name="Google Shape;406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3190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2720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02250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42C331-E8DC-B41E-BBA6-1AFC2E1FB9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3182" y="1497280"/>
            <a:ext cx="5217318" cy="238118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84E148-8221-74DD-626F-DA72B91FB1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4925" y="3995023"/>
            <a:ext cx="5103495" cy="231131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9F497-601F-1E5E-DD76-A32FC7CB3B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5">
          <a:extLst>
            <a:ext uri="{FF2B5EF4-FFF2-40B4-BE49-F238E27FC236}">
              <a16:creationId xmlns:a16="http://schemas.microsoft.com/office/drawing/2014/main" id="{23099952-9EB1-3341-42AE-40259F0F6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0" descr="image.png">
            <a:extLst>
              <a:ext uri="{FF2B5EF4-FFF2-40B4-BE49-F238E27FC236}">
                <a16:creationId xmlns:a16="http://schemas.microsoft.com/office/drawing/2014/main" id="{8A5DEE0D-2249-9C78-1B92-F1C0A1458F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9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0">
            <a:extLst>
              <a:ext uri="{FF2B5EF4-FFF2-40B4-BE49-F238E27FC236}">
                <a16:creationId xmlns:a16="http://schemas.microsoft.com/office/drawing/2014/main" id="{60EC7438-6390-F196-DEFF-8C1794A71E42}"/>
              </a:ext>
            </a:extLst>
          </p:cNvPr>
          <p:cNvSpPr txBox="1"/>
          <p:nvPr/>
        </p:nvSpPr>
        <p:spPr>
          <a:xfrm>
            <a:off x="571500" y="571500"/>
            <a:ext cx="481264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09972"/>
              </a:lnSpc>
            </a:pPr>
            <a:r>
              <a:rPr lang="en-US" sz="3600" b="1" dirty="0">
                <a:solidFill>
                  <a:srgbClr val="0F172A"/>
                </a:solidFill>
                <a:latin typeface="Space Grotesk"/>
                <a:cs typeface="Space Grotesk"/>
                <a:sym typeface="Space Grotesk"/>
              </a:rPr>
              <a:t>Architecture Diagram</a:t>
            </a:r>
            <a:endParaRPr lang="en-US" sz="3600" b="1" dirty="0">
              <a:solidFill>
                <a:srgbClr val="0F172A"/>
              </a:solidFill>
              <a:latin typeface="Space Grotesk"/>
              <a:cs typeface="Space Grotesk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969C9-B2ED-6911-F229-D3F38C985F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21</a:t>
            </a:fld>
            <a:endParaRPr lang="en-US"/>
          </a:p>
        </p:txBody>
      </p:sp>
      <p:pic>
        <p:nvPicPr>
          <p:cNvPr id="9" name="Picture 8" descr="A diagram of a company&#10;&#10;AI-generated content may be incorrect.">
            <a:extLst>
              <a:ext uri="{FF2B5EF4-FFF2-40B4-BE49-F238E27FC236}">
                <a16:creationId xmlns:a16="http://schemas.microsoft.com/office/drawing/2014/main" id="{977FBCDD-7D9C-B7A9-0E5F-F61EE07E2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70" y="1869453"/>
            <a:ext cx="10391775" cy="39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52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1"/>
          <p:cNvSpPr txBox="1"/>
          <p:nvPr/>
        </p:nvSpPr>
        <p:spPr>
          <a:xfrm>
            <a:off x="2630566" y="2059483"/>
            <a:ext cx="6930866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 &amp; Future Work</a:t>
            </a:r>
            <a:endParaRPr/>
          </a:p>
        </p:txBody>
      </p:sp>
      <p:sp>
        <p:nvSpPr>
          <p:cNvPr id="415" name="Google Shape;415;p31"/>
          <p:cNvSpPr txBox="1"/>
          <p:nvPr/>
        </p:nvSpPr>
        <p:spPr>
          <a:xfrm>
            <a:off x="2795587" y="7920930"/>
            <a:ext cx="660082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Democratizing energy transparency for responsible AI.</a:t>
            </a:r>
            <a:endParaRPr/>
          </a:p>
        </p:txBody>
      </p:sp>
      <p:sp>
        <p:nvSpPr>
          <p:cNvPr id="416" name="Google Shape;416;p31"/>
          <p:cNvSpPr txBox="1"/>
          <p:nvPr/>
        </p:nvSpPr>
        <p:spPr>
          <a:xfrm>
            <a:off x="2795587" y="4193827"/>
            <a:ext cx="3165395" cy="302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Achievements</a:t>
            </a:r>
            <a:endParaRPr/>
          </a:p>
        </p:txBody>
      </p:sp>
      <p:sp>
        <p:nvSpPr>
          <p:cNvPr id="417" name="Google Shape;417;p31"/>
          <p:cNvSpPr/>
          <p:nvPr/>
        </p:nvSpPr>
        <p:spPr>
          <a:xfrm>
            <a:off x="2795587" y="4630042"/>
            <a:ext cx="30146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1"/>
          <p:cNvSpPr txBox="1"/>
          <p:nvPr/>
        </p:nvSpPr>
        <p:spPr>
          <a:xfrm>
            <a:off x="6381750" y="4193827"/>
            <a:ext cx="3165395" cy="302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Roadmap</a:t>
            </a:r>
            <a:endParaRPr/>
          </a:p>
        </p:txBody>
      </p:sp>
      <p:sp>
        <p:nvSpPr>
          <p:cNvPr id="419" name="Google Shape;419;p31"/>
          <p:cNvSpPr/>
          <p:nvPr/>
        </p:nvSpPr>
        <p:spPr>
          <a:xfrm>
            <a:off x="6381750" y="4630042"/>
            <a:ext cx="30146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1"/>
          <p:cNvSpPr txBox="1"/>
          <p:nvPr/>
        </p:nvSpPr>
        <p:spPr>
          <a:xfrm>
            <a:off x="3128962" y="4791967"/>
            <a:ext cx="26812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Functional ML Pipeline</a:t>
            </a:r>
            <a:endParaRPr/>
          </a:p>
        </p:txBody>
      </p:sp>
      <p:sp>
        <p:nvSpPr>
          <p:cNvPr id="421" name="Google Shape;421;p31"/>
          <p:cNvSpPr txBox="1"/>
          <p:nvPr/>
        </p:nvSpPr>
        <p:spPr>
          <a:xfrm>
            <a:off x="3128962" y="5287267"/>
            <a:ext cx="26812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Hybrid Optimization</a:t>
            </a:r>
            <a:endParaRPr/>
          </a:p>
        </p:txBody>
      </p:sp>
      <p:sp>
        <p:nvSpPr>
          <p:cNvPr id="422" name="Google Shape;422;p31"/>
          <p:cNvSpPr txBox="1"/>
          <p:nvPr/>
        </p:nvSpPr>
        <p:spPr>
          <a:xfrm>
            <a:off x="3128962" y="5782567"/>
            <a:ext cx="26812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Real-time Dashboard</a:t>
            </a:r>
            <a:endParaRPr/>
          </a:p>
        </p:txBody>
      </p:sp>
      <p:sp>
        <p:nvSpPr>
          <p:cNvPr id="423" name="Google Shape;423;p31"/>
          <p:cNvSpPr txBox="1"/>
          <p:nvPr/>
        </p:nvSpPr>
        <p:spPr>
          <a:xfrm>
            <a:off x="6715125" y="4791967"/>
            <a:ext cx="26812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Cloud Deployment</a:t>
            </a:r>
            <a:endParaRPr/>
          </a:p>
        </p:txBody>
      </p:sp>
      <p:sp>
        <p:nvSpPr>
          <p:cNvPr id="424" name="Google Shape;424;p31"/>
          <p:cNvSpPr txBox="1"/>
          <p:nvPr/>
        </p:nvSpPr>
        <p:spPr>
          <a:xfrm>
            <a:off x="6715125" y="5287267"/>
            <a:ext cx="26812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Live LLM Integration</a:t>
            </a:r>
            <a:endParaRPr/>
          </a:p>
        </p:txBody>
      </p:sp>
      <p:sp>
        <p:nvSpPr>
          <p:cNvPr id="425" name="Google Shape;425;p31"/>
          <p:cNvSpPr txBox="1"/>
          <p:nvPr/>
        </p:nvSpPr>
        <p:spPr>
          <a:xfrm>
            <a:off x="6715125" y="5782567"/>
            <a:ext cx="26812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Multi-language Support</a:t>
            </a:r>
            <a:endParaRPr/>
          </a:p>
        </p:txBody>
      </p:sp>
      <p:sp>
        <p:nvSpPr>
          <p:cNvPr id="426" name="Google Shape;426;p31"/>
          <p:cNvSpPr/>
          <p:nvPr/>
        </p:nvSpPr>
        <p:spPr>
          <a:xfrm>
            <a:off x="1524000" y="-381000"/>
            <a:ext cx="4762500" cy="1487983"/>
          </a:xfrm>
          <a:prstGeom prst="roundRect">
            <a:avLst>
              <a:gd name="adj" fmla="val 32006"/>
            </a:avLst>
          </a:prstGeom>
          <a:solidFill>
            <a:srgbClr val="A7F3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8" name="Google Shape;428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95587" y="483006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95587" y="532536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95587" y="582066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83006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532536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582066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718830-2571-EDF9-85AB-5A9A7D117B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60</cp:revision>
  <dcterms:modified xsi:type="dcterms:W3CDTF">2025-12-12T09:25:32Z</dcterms:modified>
</cp:coreProperties>
</file>